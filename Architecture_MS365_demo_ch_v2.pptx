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F45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0F2B5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70432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11480" y="2926080"/>
            <a:ext cx="731520" cy="54864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utilisateurs · Postes locaux · Suisse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— 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0" y="548640"/>
            <a:ext cx="4754880" cy="91440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0" y="548640"/>
            <a:ext cx="54864" cy="914400"/>
          </a:xfrm>
          <a:prstGeom prst="rect">
            <a:avLst/>
          </a:prstGeom>
          <a:solidFill>
            <a:srgbClr val="38A3D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7955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Utilisateurs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5488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Direction · 2 RH · 2 Finances · 8 Standards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114800" y="1645920"/>
            <a:ext cx="4754880" cy="91440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114800" y="1645920"/>
            <a:ext cx="54864" cy="914400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928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Plan 1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2029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+ MFA + Conditional Access + ESR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114800" y="2743200"/>
            <a:ext cx="4754880" cy="91440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0" y="2743200"/>
            <a:ext cx="54864" cy="914400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99008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 GFS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54880" y="3127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+ LTO (GFS) + Azure Blob Immutable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114800" y="3840480"/>
            <a:ext cx="4754880" cy="91440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114800" y="3840480"/>
            <a:ext cx="54864" cy="914400"/>
          </a:xfrm>
          <a:prstGeom prst="rect">
            <a:avLst/>
          </a:prstGeom>
          <a:solidFill>
            <a:srgbClr val="EF535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08736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nLPD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75488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+ Labels Purview : RH · Finances · Direction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0789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7899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&amp; Groupes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3192" y="14173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comptes MS365 Business Premium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× Direction (laptops HP EliteBook)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× RH (PC fixes)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× Finances (PC fixes)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× Standards (PC fixes)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Entra ID avec accès croisés Direction→RH/Finance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8600" y="914400"/>
            <a:ext cx="2816352" cy="73152"/>
          </a:xfrm>
          <a:prstGeom prst="rect">
            <a:avLst/>
          </a:prstGeom>
          <a:solidFill>
            <a:srgbClr val="0E6DB5"/>
          </a:solidFill>
          <a:ln/>
        </p:spPr>
      </p:sp>
      <p:sp>
        <p:nvSpPr>
          <p:cNvPr id="9" name="Shape 6"/>
          <p:cNvSpPr/>
          <p:nvPr/>
        </p:nvSpPr>
        <p:spPr>
          <a:xfrm>
            <a:off x="3172968" y="91440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789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07899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Cloud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37560" y="14173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Online · SharePoint Online · Teams · OneDrive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 + Site Communication + 3 sites métiers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(Enterprise State Roaming) + Known Folder Move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Zoneedit : MX, SPF, DKIM, DMARC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72968" y="914400"/>
            <a:ext cx="2816352" cy="73152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14" name="Shape 10"/>
          <p:cNvSpPr/>
          <p:nvPr/>
        </p:nvSpPr>
        <p:spPr>
          <a:xfrm>
            <a:off x="6117336" y="91440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7899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39128" y="107899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 4 jobs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81928" y="14173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23h00 : M365 → Disque local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00h30 : Disque local → LTO-8 (GFS)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 — 01h30 : Disque local → Azure Immutable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4 — Sam. 22h00 : Full LTO + Config Veeam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17336" y="914400"/>
            <a:ext cx="2816352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Shape 14"/>
          <p:cNvSpPr/>
          <p:nvPr/>
        </p:nvSpPr>
        <p:spPr>
          <a:xfrm>
            <a:off x="228600" y="290779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072384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392" y="3072384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Compliance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93192" y="34107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Business Plan 1 (AV, EDR, MDE)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obligatoire + Conditional Access 3 politiques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DLP : RH, Finances, Direction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sensibilité + nLPD Suisse (dès sept. 2023)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28600" y="2907792"/>
            <a:ext cx="2816352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Shape 18"/>
          <p:cNvSpPr/>
          <p:nvPr/>
        </p:nvSpPr>
        <p:spPr>
          <a:xfrm>
            <a:off x="3172968" y="290779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72384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94760" y="3072384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Imprimantes MFP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337560" y="34107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HP multifonctions sur site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 port 587 — comptes dédiés (valable jusqu'à fin 2026 → OAuth 2.0)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dédiés imprimante.mfp1@demo.ch/mfp2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 activé par compte sur port 587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172968" y="2907792"/>
            <a:ext cx="2816352" cy="7315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9" name="Shape 22"/>
          <p:cNvSpPr/>
          <p:nvPr/>
        </p:nvSpPr>
        <p:spPr>
          <a:xfrm>
            <a:off x="6117336" y="290779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072384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39128" y="3072384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Suisse (CHF)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281928" y="34107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initial (matériel + setup) : ~CHF 28'000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récurrent annuel : ~CHF 11'500/an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TVA 8.1% — domaine demo.ch déjà acquis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117336" y="2907792"/>
            <a:ext cx="2816352" cy="73152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743200" cy="4069080"/>
          </a:xfrm>
          <a:prstGeom prst="rect">
            <a:avLst/>
          </a:prstGeom>
          <a:solidFill>
            <a:srgbClr val="EEF3FB"/>
          </a:solidFill>
          <a:ln w="12700">
            <a:solidFill>
              <a:srgbClr val="0E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68680"/>
            <a:ext cx="2743200" cy="320040"/>
          </a:xfrm>
          <a:prstGeom prst="rect">
            <a:avLst/>
          </a:prstGeom>
          <a:solidFill>
            <a:srgbClr val="0E6D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560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3807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PC fixes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1618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Pro — Standards/RH/Finances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2039112"/>
            <a:ext cx="2560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488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20939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Laptops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04672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EliteBook — Direction (mobilité)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2752344"/>
            <a:ext cx="2560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620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807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Veeam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04672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B&amp;R + disque local + LTO-8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74320" y="3465576"/>
            <a:ext cx="2560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5753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MFP HP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04672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 port 587 vers Exchange Online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274320" y="4178808"/>
            <a:ext cx="2560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28853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4233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Switch/Firewall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04672" y="4471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NAT, VLAN, QoS, DNS local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2926080" y="2560320"/>
            <a:ext cx="502920" cy="54864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27" name="Text 20"/>
          <p:cNvSpPr/>
          <p:nvPr/>
        </p:nvSpPr>
        <p:spPr>
          <a:xfrm>
            <a:off x="3246120" y="24505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A3D8"/>
                </a:solidFill>
              </a:rPr>
              <a:t>►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2852928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Sync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3520440" y="868680"/>
            <a:ext cx="3017520" cy="4069080"/>
          </a:xfrm>
          <a:prstGeom prst="rect">
            <a:avLst/>
          </a:prstGeom>
          <a:solidFill>
            <a:srgbClr val="F0F9FF"/>
          </a:solidFill>
          <a:ln w="12700">
            <a:solidFill>
              <a:srgbClr val="38A3D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520440" y="868680"/>
            <a:ext cx="3017520" cy="320040"/>
          </a:xfrm>
          <a:prstGeom prst="rect">
            <a:avLst/>
          </a:prstGeom>
          <a:solidFill>
            <a:srgbClr val="38A3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CLOUD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611880" y="1325880"/>
            <a:ext cx="2834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143560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42232" y="1380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Online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142232" y="1618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GB/mailbox · SMTP Auth · MFP relay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3611880" y="2039112"/>
            <a:ext cx="2834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608" y="2148840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142232" y="20939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142232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+ Comm + Direction + RH + Finances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3611880" y="2752344"/>
            <a:ext cx="2834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608" y="2862072"/>
            <a:ext cx="347472" cy="34747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142232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+ OneDrive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4142232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To/user · ESR · Known Folder Move</a:t>
            </a:r>
            <a:endParaRPr lang="en-US" sz="800" dirty="0"/>
          </a:p>
        </p:txBody>
      </p:sp>
      <p:sp>
        <p:nvSpPr>
          <p:cNvPr id="43" name="Shape 33"/>
          <p:cNvSpPr/>
          <p:nvPr/>
        </p:nvSpPr>
        <p:spPr>
          <a:xfrm>
            <a:off x="3611880" y="3465576"/>
            <a:ext cx="2834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1608" y="3575304"/>
            <a:ext cx="347472" cy="34747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142232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Plan 1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4142232" y="3758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+ EDR + EOP + MDO + Intune</a:t>
            </a:r>
            <a:endParaRPr lang="en-US" sz="800" dirty="0"/>
          </a:p>
        </p:txBody>
      </p:sp>
      <p:sp>
        <p:nvSpPr>
          <p:cNvPr id="47" name="Shape 36"/>
          <p:cNvSpPr/>
          <p:nvPr/>
        </p:nvSpPr>
        <p:spPr>
          <a:xfrm>
            <a:off x="3611880" y="4178808"/>
            <a:ext cx="2834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1608" y="4288536"/>
            <a:ext cx="347472" cy="34747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4142232" y="4233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+ Entra ID</a:t>
            </a:r>
            <a:endParaRPr lang="en-US" sz="1000" dirty="0"/>
          </a:p>
        </p:txBody>
      </p:sp>
      <p:sp>
        <p:nvSpPr>
          <p:cNvPr id="50" name="Text 38"/>
          <p:cNvSpPr/>
          <p:nvPr/>
        </p:nvSpPr>
        <p:spPr>
          <a:xfrm>
            <a:off x="4142232" y="4471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· Labels · CA · MFA · SSPR</a:t>
            </a:r>
            <a:endParaRPr lang="en-US" sz="800" dirty="0"/>
          </a:p>
        </p:txBody>
      </p:sp>
      <p:sp>
        <p:nvSpPr>
          <p:cNvPr id="51" name="Shape 39"/>
          <p:cNvSpPr/>
          <p:nvPr/>
        </p:nvSpPr>
        <p:spPr>
          <a:xfrm>
            <a:off x="6537960" y="2560320"/>
            <a:ext cx="50292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2" name="Text 40"/>
          <p:cNvSpPr/>
          <p:nvPr/>
        </p:nvSpPr>
        <p:spPr>
          <a:xfrm>
            <a:off x="6858000" y="24505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►</a:t>
            </a:r>
            <a:endParaRPr lang="en-US" sz="1400" dirty="0"/>
          </a:p>
        </p:txBody>
      </p:sp>
      <p:sp>
        <p:nvSpPr>
          <p:cNvPr id="53" name="Text 41"/>
          <p:cNvSpPr/>
          <p:nvPr/>
        </p:nvSpPr>
        <p:spPr>
          <a:xfrm>
            <a:off x="6473952" y="2697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Job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700" dirty="0"/>
          </a:p>
        </p:txBody>
      </p:sp>
      <p:sp>
        <p:nvSpPr>
          <p:cNvPr id="54" name="Shape 42"/>
          <p:cNvSpPr/>
          <p:nvPr/>
        </p:nvSpPr>
        <p:spPr>
          <a:xfrm>
            <a:off x="7086600" y="868680"/>
            <a:ext cx="1920240" cy="4069080"/>
          </a:xfrm>
          <a:prstGeom prst="rect">
            <a:avLst/>
          </a:prstGeom>
          <a:solidFill>
            <a:srgbClr val="FFF8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5" name="Text 43"/>
          <p:cNvSpPr/>
          <p:nvPr/>
        </p:nvSpPr>
        <p:spPr>
          <a:xfrm>
            <a:off x="7086600" y="868680"/>
            <a:ext cx="1920240" cy="32004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7178040" y="1325880"/>
            <a:ext cx="1737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1435608"/>
            <a:ext cx="347472" cy="34747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205472" y="18562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950" dirty="0"/>
          </a:p>
        </p:txBody>
      </p:sp>
      <p:sp>
        <p:nvSpPr>
          <p:cNvPr id="59" name="Text 46"/>
          <p:cNvSpPr/>
          <p:nvPr/>
        </p:nvSpPr>
        <p:spPr>
          <a:xfrm>
            <a:off x="7205472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immutable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POUR/WORM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</a:t>
            </a:r>
            <a:endParaRPr lang="en-US" sz="800" dirty="0"/>
          </a:p>
        </p:txBody>
      </p:sp>
      <p:sp>
        <p:nvSpPr>
          <p:cNvPr id="60" name="Shape 47"/>
          <p:cNvSpPr/>
          <p:nvPr/>
        </p:nvSpPr>
        <p:spPr>
          <a:xfrm>
            <a:off x="7178040" y="2532888"/>
            <a:ext cx="1737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2642616"/>
            <a:ext cx="347472" cy="347472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7205472" y="3063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Veeam</a:t>
            </a:r>
            <a:endParaRPr lang="en-US" sz="950" dirty="0"/>
          </a:p>
        </p:txBody>
      </p:sp>
      <p:sp>
        <p:nvSpPr>
          <p:cNvPr id="63" name="Text 49"/>
          <p:cNvSpPr/>
          <p:nvPr/>
        </p:nvSpPr>
        <p:spPr>
          <a:xfrm>
            <a:off x="7205472" y="3264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Veeam</a:t>
            </a:r>
            <a:endParaRPr lang="en-US" sz="800" dirty="0"/>
          </a:p>
        </p:txBody>
      </p:sp>
      <p:sp>
        <p:nvSpPr>
          <p:cNvPr id="64" name="Shape 50"/>
          <p:cNvSpPr/>
          <p:nvPr/>
        </p:nvSpPr>
        <p:spPr>
          <a:xfrm>
            <a:off x="7178040" y="3739896"/>
            <a:ext cx="1737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3849624"/>
            <a:ext cx="347472" cy="347472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7205472" y="42702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950" dirty="0"/>
          </a:p>
        </p:txBody>
      </p:sp>
      <p:sp>
        <p:nvSpPr>
          <p:cNvPr id="67" name="Text 52"/>
          <p:cNvSpPr/>
          <p:nvPr/>
        </p:nvSpPr>
        <p:spPr>
          <a:xfrm>
            <a:off x="7205472" y="44714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chiffr.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 + Azure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&amp; Organisation des utilisateurs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280160"/>
          </a:xfrm>
          <a:prstGeom prst="rect">
            <a:avLst/>
          </a:prstGeom>
          <a:solidFill>
            <a:srgbClr val="0E6DB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Business Premium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licences × CHF 23.10/user/mois = CHF 4'158/an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· SharePoint · Teams · OneDrive · Defender · Intune · Purview · Entra P1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2359152"/>
            <a:ext cx="20116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9152"/>
            <a:ext cx="2011680" cy="457200"/>
          </a:xfrm>
          <a:prstGeom prst="rect">
            <a:avLst/>
          </a:prstGeom>
          <a:solidFill>
            <a:srgbClr val="0F2B5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41401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2432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228600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8328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Hub, Direction, RH, Finances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HP EliteBook · ESR + KFM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04872" y="2359152"/>
            <a:ext cx="20116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04872" y="2359152"/>
            <a:ext cx="2011680" cy="45720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241401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0360" y="2432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404872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2404872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14600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Hub, Comm, RH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fixes · Compliance nLPD RH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81144" y="2359152"/>
            <a:ext cx="20116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81144" y="2359152"/>
            <a:ext cx="2011680" cy="4572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41401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56632" y="2432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81144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7" name="Text 22"/>
          <p:cNvSpPr/>
          <p:nvPr/>
        </p:nvSpPr>
        <p:spPr>
          <a:xfrm>
            <a:off x="4581144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690872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Hub, Comm, Finances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fixes · Compliance nLPD Finance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757416" y="2359152"/>
            <a:ext cx="20116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57416" y="2359152"/>
            <a:ext cx="2011680" cy="457200"/>
          </a:xfrm>
          <a:prstGeom prst="rect">
            <a:avLst/>
          </a:prstGeom>
          <a:solidFill>
            <a:srgbClr val="38A3D8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414016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32904" y="2432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757416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34" name="Text 28"/>
          <p:cNvSpPr/>
          <p:nvPr/>
        </p:nvSpPr>
        <p:spPr>
          <a:xfrm>
            <a:off x="6757416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867144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Hub + Site Comm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fixes · Teams + OneDrive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228600" y="4754880"/>
            <a:ext cx="86868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2004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Le groupe Direction hérite des accès aux sites SharePoint RH et Finances via un groupe Entra ID imbriqué.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 — Structure des sites &amp; ESR / KFM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743200" cy="77724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1024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9476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9476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B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intranet.demo.ch — Toute l'entreprise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0" y="1691640"/>
            <a:ext cx="0" cy="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91640"/>
            <a:ext cx="0" cy="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91640"/>
            <a:ext cx="0" cy="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691640"/>
            <a:ext cx="0" cy="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2" name="Shape 9"/>
          <p:cNvSpPr/>
          <p:nvPr/>
        </p:nvSpPr>
        <p:spPr>
          <a:xfrm>
            <a:off x="1920240" y="1298448"/>
            <a:ext cx="128016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3360" y="1298448"/>
            <a:ext cx="9144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1298448"/>
            <a:ext cx="54864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1298448"/>
            <a:ext cx="82296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8600" y="18745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1874520"/>
            <a:ext cx="2011680" cy="7315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740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2075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Communication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65760" y="25877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Actualités, annonces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l'entreprise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359152" y="18745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359152" y="1874520"/>
            <a:ext cx="2011680" cy="73152"/>
          </a:xfrm>
          <a:prstGeom prst="rect">
            <a:avLst/>
          </a:prstGeom>
          <a:solidFill>
            <a:srgbClr val="0F2B5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20574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953512" y="2075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Direction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496312" y="25877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direction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membres + vue RH/Finance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480560" y="18745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480560" y="1874520"/>
            <a:ext cx="2011680" cy="7315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5740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74920" y="2075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RH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617720" y="25877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Contrats, fiches paie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RH + Direction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6601968" y="18745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601968" y="1874520"/>
            <a:ext cx="201168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057400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96328" y="2075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Finances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739128" y="25877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Comptabilité, budgets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Finances + Direction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228600" y="3429000"/>
            <a:ext cx="4297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228600" y="3429000"/>
            <a:ext cx="4297680" cy="347472"/>
          </a:xfrm>
          <a:prstGeom prst="rect">
            <a:avLst/>
          </a:prstGeom>
          <a:solidFill>
            <a:srgbClr val="0E6DB5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47472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008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State Roaming (ESR)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20040" y="38404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des paramètres Windows vers Azure AD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Thème, WiFi, accessibilité, apps — disponible sur tous les postes de la direction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dans : Entra ID → Appareils → Enterprise State Roaming → All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800600" y="34290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800600" y="3429000"/>
            <a:ext cx="4114800" cy="34747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474720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21208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Folder Move (KFM)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4892040" y="3840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automatique Bureau, Documents, Images → OneDrive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transparente sans action utilisateur — déployé via Intune (MDM)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Intune : Computer Config &gt; OneDrive &gt; KFM Silent Enable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Compliance nLPD Suisse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51960" cy="38404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Business — Plan 1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&amp; EDR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029968" y="13533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sur 15 postes — détection comportementale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4650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Protection (EOP)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029968" y="1728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Anti-spam, anti-phishing, Safe Links, Safe Attachments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2140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436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obligatoire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2029968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Authenticator — tous utilisateurs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49631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" y="2478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2029968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politiques : MFA all, Block legacy, Compliant device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871216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94360" y="2852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MDM/MAM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2029968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Windows, BitLocker, KFM, ESR, conformité postes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663440" y="868680"/>
            <a:ext cx="42519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663440" y="868680"/>
            <a:ext cx="4251960" cy="38404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91440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93208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nLPD — Microsoft Purview</a:t>
            </a:r>
            <a:endParaRPr lang="en-US" sz="11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37160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920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sensibilité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6473952" y="13533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RH-Confidentiel · Finances-Confidentiel · Direction-Confidentiel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1746504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29200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6473952" y="1728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partage externe données sensibles (AVS, IBAN, NIF)</a:t>
            </a:r>
            <a:endParaRPr lang="en-US" sz="9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2121408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02920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restreints</a:t>
            </a:r>
            <a:endParaRPr lang="en-US" sz="950" dirty="0"/>
          </a:p>
        </p:txBody>
      </p:sp>
      <p:sp>
        <p:nvSpPr>
          <p:cNvPr id="35" name="Text 23"/>
          <p:cNvSpPr/>
          <p:nvPr/>
        </p:nvSpPr>
        <p:spPr>
          <a:xfrm>
            <a:off x="6473952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RH, Finances, Direction : accès par groupe Entra ID</a:t>
            </a:r>
            <a:endParaRPr lang="en-US" sz="9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2496312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029200" y="2478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950" dirty="0"/>
          </a:p>
        </p:txBody>
      </p:sp>
      <p:sp>
        <p:nvSpPr>
          <p:cNvPr id="38" name="Text 25"/>
          <p:cNvSpPr/>
          <p:nvPr/>
        </p:nvSpPr>
        <p:spPr>
          <a:xfrm>
            <a:off x="647395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90j extensible — eDiscovery opérationnel</a:t>
            </a:r>
            <a:endParaRPr lang="en-US" sz="9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871216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029200" y="2852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bris.</a:t>
            </a:r>
            <a:endParaRPr lang="en-US" sz="950" dirty="0"/>
          </a:p>
        </p:txBody>
      </p:sp>
      <p:sp>
        <p:nvSpPr>
          <p:cNvPr id="41" name="Text 27"/>
          <p:cNvSpPr/>
          <p:nvPr/>
        </p:nvSpPr>
        <p:spPr>
          <a:xfrm>
            <a:off x="6473952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72h vers PFPDT — conforme nLPD sept. 2023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228600" y="3547872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29"/>
          <p:cNvSpPr/>
          <p:nvPr/>
        </p:nvSpPr>
        <p:spPr>
          <a:xfrm>
            <a:off x="228600" y="3547872"/>
            <a:ext cx="8686800" cy="347472"/>
          </a:xfrm>
          <a:prstGeom prst="rect">
            <a:avLst/>
          </a:prstGeom>
          <a:solidFill>
            <a:srgbClr val="8899AA"/>
          </a:solidFill>
          <a:ln/>
        </p:spPr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3593592"/>
            <a:ext cx="256032" cy="256032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40080" y="3593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Imprimantes MFP — SMTP AUTH port 587</a:t>
            </a:r>
            <a:endParaRPr lang="en-US" sz="1100" dirty="0"/>
          </a:p>
        </p:txBody>
      </p:sp>
      <p:sp>
        <p:nvSpPr>
          <p:cNvPr id="46" name="Text 31"/>
          <p:cNvSpPr/>
          <p:nvPr/>
        </p:nvSpPr>
        <p:spPr>
          <a:xfrm>
            <a:off x="32004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dédié</a:t>
            </a:r>
            <a:endParaRPr lang="en-US" sz="950" dirty="0"/>
          </a:p>
        </p:txBody>
      </p:sp>
      <p:sp>
        <p:nvSpPr>
          <p:cNvPr id="47" name="Text 32"/>
          <p:cNvSpPr/>
          <p:nvPr/>
        </p:nvSpPr>
        <p:spPr>
          <a:xfrm>
            <a:off x="320040" y="41879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imprimante.mfp1@demo.ch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imprimante.mfp2@demo.ch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 activé par compte</a:t>
            </a:r>
            <a:endParaRPr lang="en-US" sz="850" dirty="0"/>
          </a:p>
        </p:txBody>
      </p:sp>
      <p:sp>
        <p:nvSpPr>
          <p:cNvPr id="48" name="Text 33"/>
          <p:cNvSpPr/>
          <p:nvPr/>
        </p:nvSpPr>
        <p:spPr>
          <a:xfrm>
            <a:off x="246888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SMTP</a:t>
            </a:r>
            <a:endParaRPr lang="en-US" sz="950" dirty="0"/>
          </a:p>
        </p:txBody>
      </p:sp>
      <p:sp>
        <p:nvSpPr>
          <p:cNvPr id="49" name="Text 34"/>
          <p:cNvSpPr/>
          <p:nvPr/>
        </p:nvSpPr>
        <p:spPr>
          <a:xfrm>
            <a:off x="2468880" y="41879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: smtp.office365.com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587 / TLS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: compte dédié</a:t>
            </a:r>
            <a:endParaRPr lang="en-US" sz="850" dirty="0"/>
          </a:p>
        </p:txBody>
      </p:sp>
      <p:sp>
        <p:nvSpPr>
          <p:cNvPr id="50" name="Text 35"/>
          <p:cNvSpPr/>
          <p:nvPr/>
        </p:nvSpPr>
        <p:spPr>
          <a:xfrm>
            <a:off x="461772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MFA</a:t>
            </a:r>
            <a:endParaRPr lang="en-US" sz="950" dirty="0"/>
          </a:p>
        </p:txBody>
      </p:sp>
      <p:sp>
        <p:nvSpPr>
          <p:cNvPr id="51" name="Text 36"/>
          <p:cNvSpPr/>
          <p:nvPr/>
        </p:nvSpPr>
        <p:spPr>
          <a:xfrm>
            <a:off x="4617720" y="41879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MFP exclu MFA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— exclusion par compte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MFP exclu nominativement</a:t>
            </a:r>
            <a:endParaRPr lang="en-US" sz="850" dirty="0"/>
          </a:p>
        </p:txBody>
      </p:sp>
      <p:sp>
        <p:nvSpPr>
          <p:cNvPr id="52" name="Text 37"/>
          <p:cNvSpPr/>
          <p:nvPr/>
        </p:nvSpPr>
        <p:spPr>
          <a:xfrm>
            <a:off x="676656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OAuth 2.0</a:t>
            </a:r>
            <a:endParaRPr lang="en-US" sz="950" dirty="0"/>
          </a:p>
        </p:txBody>
      </p:sp>
      <p:sp>
        <p:nvSpPr>
          <p:cNvPr id="53" name="Text 38"/>
          <p:cNvSpPr/>
          <p:nvPr/>
        </p:nvSpPr>
        <p:spPr>
          <a:xfrm>
            <a:off x="6766560" y="41879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dès H2 2027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Entra ID — MFA compatible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avant fin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Veeam Backup — 4 jobs / GFS / Immutable Azure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194560" cy="4114800"/>
          </a:xfrm>
          <a:prstGeom prst="rect">
            <a:avLst/>
          </a:prstGeom>
          <a:solidFill>
            <a:srgbClr val="EEF3FB"/>
          </a:solidFill>
          <a:ln w="12700">
            <a:solidFill>
              <a:srgbClr val="0E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68680"/>
            <a:ext cx="2194560" cy="292608"/>
          </a:xfrm>
          <a:prstGeom prst="rect">
            <a:avLst/>
          </a:prstGeom>
          <a:solidFill>
            <a:srgbClr val="0E6D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CLOUD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23h00 NIGHTLY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Incrémentiel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77440" y="2743200"/>
            <a:ext cx="594360" cy="54864"/>
          </a:xfrm>
          <a:prstGeom prst="rect">
            <a:avLst/>
          </a:prstGeom>
          <a:solidFill>
            <a:srgbClr val="0E6DB5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26334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6DB5"/>
                </a:solidFill>
              </a:rPr>
              <a:t>►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71800" y="868680"/>
            <a:ext cx="2834640" cy="4114800"/>
          </a:xfrm>
          <a:prstGeom prst="rect">
            <a:avLst/>
          </a:prstGeom>
          <a:solidFill>
            <a:srgbClr val="F0F7FF"/>
          </a:solidFill>
          <a:ln w="12700">
            <a:solidFill>
              <a:srgbClr val="38A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71800" y="868680"/>
            <a:ext cx="2834640" cy="292608"/>
          </a:xfrm>
          <a:prstGeom prst="rect">
            <a:avLst/>
          </a:prstGeom>
          <a:solidFill>
            <a:srgbClr val="38A3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VEEAM + DISQUE LOCAL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6187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752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local primaire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: 24h — RTO : 2-4h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chiffrement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01752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00h30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017520" y="27797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local → LTO-8 (GFS incrémentiel)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0" y="2999232"/>
            <a:ext cx="242316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8" name="Text 14"/>
          <p:cNvSpPr/>
          <p:nvPr/>
        </p:nvSpPr>
        <p:spPr>
          <a:xfrm>
            <a:off x="3017520" y="3127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 — 01h30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017520" y="3328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local → Azure Immutable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0" y="3547872"/>
            <a:ext cx="242316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1" name="Text 17"/>
          <p:cNvSpPr/>
          <p:nvPr/>
        </p:nvSpPr>
        <p:spPr>
          <a:xfrm>
            <a:off x="3017520" y="3675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4 — Sam. 22h00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017520" y="3877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LTO + Config Veeam sauvegardée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108960" y="2258568"/>
            <a:ext cx="457200" cy="54864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24" name="Text 20"/>
          <p:cNvSpPr/>
          <p:nvPr/>
        </p:nvSpPr>
        <p:spPr>
          <a:xfrm>
            <a:off x="2971800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5B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806440" y="2788920"/>
            <a:ext cx="50292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2"/>
          <p:cNvSpPr/>
          <p:nvPr/>
        </p:nvSpPr>
        <p:spPr>
          <a:xfrm>
            <a:off x="6126480" y="26791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►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82880" y="4617720"/>
            <a:ext cx="0" cy="0"/>
          </a:xfrm>
          <a:prstGeom prst="rect">
            <a:avLst/>
          </a:prstGeom>
          <a:noFill/>
          <a:ln/>
        </p:spPr>
      </p:sp>
      <p:sp>
        <p:nvSpPr>
          <p:cNvPr id="28" name="Shape 24"/>
          <p:cNvSpPr/>
          <p:nvPr/>
        </p:nvSpPr>
        <p:spPr>
          <a:xfrm>
            <a:off x="2971800" y="1280160"/>
            <a:ext cx="2834640" cy="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29" name="Shape 25"/>
          <p:cNvSpPr/>
          <p:nvPr/>
        </p:nvSpPr>
        <p:spPr>
          <a:xfrm>
            <a:off x="182880" y="4626864"/>
            <a:ext cx="2834640" cy="411480"/>
          </a:xfrm>
          <a:prstGeom prst="rect">
            <a:avLst/>
          </a:prstGeom>
          <a:solidFill>
            <a:srgbClr val="0F2B5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6344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1792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LTO-8 — bandes physiques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309360" y="868680"/>
            <a:ext cx="2606040" cy="4114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09360" y="868680"/>
            <a:ext cx="2606040" cy="29260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85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261872"/>
            <a:ext cx="548640" cy="5486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355080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Immutable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/ WORM activé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 de rétention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TLS</a:t>
            </a:r>
            <a:endParaRPr lang="en-US" sz="9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83464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355080" y="33832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chiffrement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 + Azure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35508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Veeam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(Job 4)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bandes LTO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GFS LTO-8 — Rotation &amp; Chiffrement des bandes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868680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508760"/>
                <a:gridCol w="141732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GFS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Jour(s) / Heure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Nbre bandes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Sortie hors-site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GFS Incrémentiel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Lun–Jeu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23h00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semaines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bandes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(local)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GFS Hebdomadaire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Vendredi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22h00 (Full)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semaines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bandes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 matin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GFS Mensuel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vendredi du 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22h00 (Full)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bandes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 suivant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GFS Annuel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déc. / 1er jan.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22h00 (Full)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bandes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Immédiat coffre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2907792"/>
            <a:ext cx="4251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2907792"/>
            <a:ext cx="4251960" cy="365760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53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&amp; Clés LTO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0040" y="333756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hardware LTO-8 (AES-256) activé dans Veeam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principale (KEK) stockée dans Azure Key Vault — versionnée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de la KEK sur une bande dédiée 'KEYBACKUP' (coffre physique)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annuelle de la KEK — ancien KEK conservé 7 ans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: KEK depuis Key Vault OU bande 'KEYBACKUP' (plan B)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Jamais de clé en clair sur disque ou email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63440" y="2907792"/>
            <a:ext cx="4251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2907792"/>
            <a:ext cx="4251960" cy="36576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20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Configuration Veeam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54880" y="333756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XML hebdomadaire (Job 4 — Sam. 22h00) vers 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① Azure Blob Storage — conteneur 'veeam-config' (immuable)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② Bande LTO GFS Hebdo Pool_Config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: jobs, repositories, credentials (chiffrés), licences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restauration config : trimestriel sur VM test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Azure : 90 jours — Bandes : 12 semaines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&amp; Infrastructure on-premises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0332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332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HP EliteBook (Direction)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3192" y="13716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EliteBook 840 G10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 / 16 Go RAM / 512 Go SSD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Pro · Bitlocker · ESR + KFM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1'500/unité — Total : CHF 4'500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2816352" cy="73152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9" name="Shape 6"/>
          <p:cNvSpPr/>
          <p:nvPr/>
        </p:nvSpPr>
        <p:spPr>
          <a:xfrm>
            <a:off x="3172968" y="86868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332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0332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 PC fixes (RH/Finance/Standards)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37560" y="13716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ProDesk 400 G9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/ 8 Go RAM / 256 Go SSD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Pro · Bitlocker · KFM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900/unité — Total : CHF 10'800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72968" y="868680"/>
            <a:ext cx="2816352" cy="73152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14" name="Shape 10"/>
          <p:cNvSpPr/>
          <p:nvPr/>
        </p:nvSpPr>
        <p:spPr>
          <a:xfrm>
            <a:off x="6117336" y="86868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332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39128" y="103327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Veeam (dédié)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81928" y="13716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ProLiant ML110 Gen11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Go RAM / 2× 8 To SATA (RAID1)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/ Veeam B&amp;R v12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4'500 (serveur + disques)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17336" y="868680"/>
            <a:ext cx="2816352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Shape 14"/>
          <p:cNvSpPr/>
          <p:nvPr/>
        </p:nvSpPr>
        <p:spPr>
          <a:xfrm>
            <a:off x="228600" y="301752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18211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392" y="31821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LTO-8 + bandes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93192" y="352044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StoreEver LTO-8 Ultrium 30750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: 12 To natif / 30 To compressé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bandes LTO-8 (~CHF 30/bande)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4'200 (drive) + CHF 1'050 (bandes)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28600" y="3017520"/>
            <a:ext cx="2816352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4" name="Shape 18"/>
          <p:cNvSpPr/>
          <p:nvPr/>
        </p:nvSpPr>
        <p:spPr>
          <a:xfrm>
            <a:off x="3172968" y="301752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82112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94760" y="31821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HP MFP (imprimantes)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337560" y="352044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LaserJet MFP M430f ou similaire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Impression, scan, copie, 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 Office 365 (port 587)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900/unité — Total : CHF 1'800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172968" y="3017520"/>
            <a:ext cx="2816352" cy="7315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9" name="Shape 22"/>
          <p:cNvSpPr/>
          <p:nvPr/>
        </p:nvSpPr>
        <p:spPr>
          <a:xfrm>
            <a:off x="6117336" y="3017520"/>
            <a:ext cx="28163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82112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39128" y="31821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(Switch + Firewall)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281928" y="352044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managé (ex: Cisco SG350)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UTM (ex: Sophos XGS87)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: Standard / Direction / Serveur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2'500 (si remplacement nécessaire)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117336" y="3017520"/>
            <a:ext cx="2816352" cy="73152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des coûts — CHF (hors TVA 8.1%)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initiaux (achat unique)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15568"/>
          <a:ext cx="4206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0292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CHF/unité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EliteBook (Direction)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ProDesk PC fixes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MFP multifonction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1'800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Veeam + disques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Lecteur LTO-8 HPE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bandes LTO-8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1'050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+ Firewall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Implémentation (10–15j)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8'000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8'000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INITIAL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 37'350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récurrents annuels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15568"/>
          <a:ext cx="4206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3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CHF/an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3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MS365 Business Premium ×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4'158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Veeam Backup for M365 (15 usr)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Veeam B&amp;R Essential (serveur)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Immutable (~500 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 + transfert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Veeam Azure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Bandes LTO (renouvellement)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matériel (5%)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1'640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RÉCURRENT / 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3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 7'594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3D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553712"/>
            <a:ext cx="2816352" cy="502920"/>
          </a:xfrm>
          <a:prstGeom prst="rect">
            <a:avLst/>
          </a:prstGeom>
          <a:solidFill>
            <a:srgbClr val="0F2B5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1ère année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0040" y="4791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44'944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172968" y="4553712"/>
            <a:ext cx="2816352" cy="502920"/>
          </a:xfrm>
          <a:prstGeom prst="rect">
            <a:avLst/>
          </a:prstGeom>
          <a:solidFill>
            <a:srgbClr val="38A3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64408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 mensuel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64408" y="4791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633/mois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17336" y="4553712"/>
            <a:ext cx="2816352" cy="50292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08776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implémentation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08776" y="4791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à 15 jours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8600" y="50840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Hors TVA 8.1% — Domaine demo.ch et DNS Zoneedit déjà en place (CHF 0 additionnel)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déploiement — 10 à 15 jours ouvrés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188720" cy="749808"/>
          </a:xfrm>
          <a:prstGeom prst="rect">
            <a:avLst/>
          </a:prstGeom>
          <a:solidFill>
            <a:srgbClr val="0E6D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8961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307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J1–J2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08760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Tenant MS365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18872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11704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tenant + validation domaine demo.ch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18872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11704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Zoneedit : MX, SPF, DKIM, DMARC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463040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91640" y="14447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comptes + 4 groupes Entra ID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63040"/>
            <a:ext cx="146304" cy="14630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57800" y="14447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Hub Site + 4 sites métiers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228600" y="1664208"/>
            <a:ext cx="8686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228600" y="1664208"/>
            <a:ext cx="1188720" cy="74980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17373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4320" y="2148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J3–J5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150876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Sécurité &amp; Compliance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2029968"/>
            <a:ext cx="146304" cy="1463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691640" y="20116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Conditional Access (3 politiques)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029968"/>
            <a:ext cx="146304" cy="14630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0116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Plan 1 + agents 15 postes</a:t>
            </a:r>
            <a:endParaRPr lang="en-US" sz="8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" y="2304288"/>
            <a:ext cx="146304" cy="14630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691640" y="22860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: Labels RH / Finances / Direction</a:t>
            </a:r>
            <a:endParaRPr lang="en-US" sz="8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304288"/>
            <a:ext cx="146304" cy="14630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57800" y="22860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 + Audit logs + nLPD</a:t>
            </a:r>
            <a:endParaRPr lang="en-US" sz="850" dirty="0"/>
          </a:p>
        </p:txBody>
      </p:sp>
      <p:sp>
        <p:nvSpPr>
          <p:cNvPr id="30" name="Shape 18"/>
          <p:cNvSpPr/>
          <p:nvPr/>
        </p:nvSpPr>
        <p:spPr>
          <a:xfrm>
            <a:off x="228600" y="2505456"/>
            <a:ext cx="8686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228600" y="2505456"/>
            <a:ext cx="1188720" cy="749808"/>
          </a:xfrm>
          <a:prstGeom prst="rect">
            <a:avLst/>
          </a:prstGeom>
          <a:solidFill>
            <a:srgbClr val="7B1FA2"/>
          </a:solidFill>
          <a:ln/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" y="2578608"/>
            <a:ext cx="365760" cy="36576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274320" y="2990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J6–J8</a:t>
            </a:r>
            <a:endParaRPr lang="en-US" sz="950" dirty="0"/>
          </a:p>
        </p:txBody>
      </p:sp>
      <p:sp>
        <p:nvSpPr>
          <p:cNvPr id="34" name="Text 21"/>
          <p:cNvSpPr/>
          <p:nvPr/>
        </p:nvSpPr>
        <p:spPr>
          <a:xfrm>
            <a:off x="15087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Intune, ESR, KFM</a:t>
            </a:r>
            <a:endParaRPr lang="en-US" sz="11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8760" y="2871216"/>
            <a:ext cx="146304" cy="14630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691640" y="28529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Enrôlement 15 postes Intune MDM</a:t>
            </a:r>
            <a:endParaRPr lang="en-US" sz="8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4920" y="2871216"/>
            <a:ext cx="146304" cy="14630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257800" y="28529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activé (Direction laptops)</a:t>
            </a:r>
            <a:endParaRPr lang="en-US" sz="8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8760" y="3145536"/>
            <a:ext cx="146304" cy="14630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1691640" y="3127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Folder Move (Bureau/Docs/Images)</a:t>
            </a:r>
            <a:endParaRPr lang="en-US" sz="8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74920" y="3145536"/>
            <a:ext cx="146304" cy="14630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257800" y="3127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+ profils conformité + MFP SMTP</a:t>
            </a:r>
            <a:endParaRPr lang="en-US" sz="850" dirty="0"/>
          </a:p>
        </p:txBody>
      </p:sp>
      <p:sp>
        <p:nvSpPr>
          <p:cNvPr id="43" name="Shape 26"/>
          <p:cNvSpPr/>
          <p:nvPr/>
        </p:nvSpPr>
        <p:spPr>
          <a:xfrm>
            <a:off x="228600" y="3346704"/>
            <a:ext cx="8686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27"/>
          <p:cNvSpPr/>
          <p:nvPr/>
        </p:nvSpPr>
        <p:spPr>
          <a:xfrm>
            <a:off x="228600" y="3346704"/>
            <a:ext cx="1188720" cy="749808"/>
          </a:xfrm>
          <a:prstGeom prst="rect">
            <a:avLst/>
          </a:prstGeom>
          <a:solidFill>
            <a:srgbClr val="0F2B5B"/>
          </a:solidFill>
          <a:ln/>
        </p:spPr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" y="3419856"/>
            <a:ext cx="365760" cy="36576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274320" y="3831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J9–J12</a:t>
            </a:r>
            <a:endParaRPr lang="en-US" sz="950" dirty="0"/>
          </a:p>
        </p:txBody>
      </p:sp>
      <p:sp>
        <p:nvSpPr>
          <p:cNvPr id="47" name="Text 29"/>
          <p:cNvSpPr/>
          <p:nvPr/>
        </p:nvSpPr>
        <p:spPr>
          <a:xfrm>
            <a:off x="15087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Veeam Backup</a:t>
            </a:r>
            <a:endParaRPr lang="en-US" sz="11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8760" y="3712464"/>
            <a:ext cx="146304" cy="146304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1691640" y="3694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serveur + LTO-8 + référentiels</a:t>
            </a:r>
            <a:endParaRPr lang="en-US" sz="85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4920" y="3712464"/>
            <a:ext cx="146304" cy="146304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5257800" y="3694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jobs (M365→Disque, LTO GFS, Azure, Config)</a:t>
            </a:r>
            <a:endParaRPr lang="en-US" sz="850" dirty="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08760" y="3986784"/>
            <a:ext cx="146304" cy="146304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1691640" y="39684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+ chiffrement LTO + bandes init</a:t>
            </a:r>
            <a:endParaRPr lang="en-US" sz="850" dirty="0"/>
          </a:p>
        </p:txBody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4920" y="3986784"/>
            <a:ext cx="146304" cy="146304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5257800" y="39684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sauvegarde + restauration complète</a:t>
            </a:r>
            <a:endParaRPr lang="en-US" sz="850" dirty="0"/>
          </a:p>
        </p:txBody>
      </p:sp>
      <p:sp>
        <p:nvSpPr>
          <p:cNvPr id="56" name="Shape 34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35"/>
          <p:cNvSpPr/>
          <p:nvPr/>
        </p:nvSpPr>
        <p:spPr>
          <a:xfrm>
            <a:off x="228600" y="4187952"/>
            <a:ext cx="1188720" cy="74980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7472" y="4261104"/>
            <a:ext cx="365760" cy="365760"/>
          </a:xfrm>
          <a:prstGeom prst="rect">
            <a:avLst/>
          </a:prstGeom>
        </p:spPr>
      </p:pic>
      <p:sp>
        <p:nvSpPr>
          <p:cNvPr id="59" name="Text 36"/>
          <p:cNvSpPr/>
          <p:nvPr/>
        </p:nvSpPr>
        <p:spPr>
          <a:xfrm>
            <a:off x="274320" y="4672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J13–J15</a:t>
            </a:r>
            <a:endParaRPr lang="en-US" sz="950" dirty="0"/>
          </a:p>
        </p:txBody>
      </p:sp>
      <p:sp>
        <p:nvSpPr>
          <p:cNvPr id="60" name="Text 37"/>
          <p:cNvSpPr/>
          <p:nvPr/>
        </p:nvSpPr>
        <p:spPr>
          <a:xfrm>
            <a:off x="1508760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Go-live &amp; Formation</a:t>
            </a:r>
            <a:endParaRPr lang="en-US" sz="1100" dirty="0"/>
          </a:p>
        </p:txBody>
      </p:sp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08760" y="4553712"/>
            <a:ext cx="146304" cy="146304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1691640" y="45354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emails (si existant)</a:t>
            </a:r>
            <a:endParaRPr lang="en-US" sz="850" dirty="0"/>
          </a:p>
        </p:txBody>
      </p:sp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74920" y="4553712"/>
            <a:ext cx="146304" cy="146304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5257800" y="45354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utilisateurs : Teams, OneDrive, DLP</a:t>
            </a:r>
            <a:endParaRPr lang="en-US" sz="850" dirty="0"/>
          </a:p>
        </p:txBody>
      </p:sp>
      <p:pic>
        <p:nvPicPr>
          <p:cNvPr id="6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08760" y="4828032"/>
            <a:ext cx="146304" cy="146304"/>
          </a:xfrm>
          <a:prstGeom prst="rect">
            <a:avLst/>
          </a:prstGeom>
        </p:spPr>
      </p:pic>
      <p:sp>
        <p:nvSpPr>
          <p:cNvPr id="66" name="Text 40"/>
          <p:cNvSpPr/>
          <p:nvPr/>
        </p:nvSpPr>
        <p:spPr>
          <a:xfrm>
            <a:off x="1691640" y="4809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 complet (restauration bande + Azure)</a:t>
            </a:r>
            <a:endParaRPr lang="en-US" sz="850" dirty="0"/>
          </a:p>
        </p:txBody>
      </p:sp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74920" y="4828032"/>
            <a:ext cx="146304" cy="146304"/>
          </a:xfrm>
          <a:prstGeom prst="rect">
            <a:avLst/>
          </a:prstGeom>
        </p:spPr>
      </p:pic>
      <p:sp>
        <p:nvSpPr>
          <p:cNvPr id="68" name="Text 41"/>
          <p:cNvSpPr/>
          <p:nvPr/>
        </p:nvSpPr>
        <p:spPr>
          <a:xfrm>
            <a:off x="5257800" y="4809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remise + checklist exploitant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A3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&amp; Prochaines étapes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816352" cy="64008"/>
          </a:xfrm>
          <a:prstGeom prst="rect">
            <a:avLst/>
          </a:prstGeom>
          <a:solidFill>
            <a:srgbClr val="38A3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926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69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utilisateurs organisés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146304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(3) · RH (2) · Finances (2) · Standards (8)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Entra ID avec accès croisés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72968" y="804672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804672"/>
            <a:ext cx="2816352" cy="64008"/>
          </a:xfrm>
          <a:prstGeom prst="rect">
            <a:avLst/>
          </a:prstGeom>
          <a:solidFill>
            <a:srgbClr val="7B1FA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9692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969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MS365 Business Premium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10128" y="146304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 + 4 sites · Exchange · Teams · OneDrive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+ KFM · CHF 4'158/an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117336" y="804672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17336" y="804672"/>
            <a:ext cx="2816352" cy="6400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9692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969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nLPD Suisse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254496" y="146304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Plan 1 · MFA · Conditional Access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DLP + Labels · 3 sites conformes nLPD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28600" y="2432304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432304"/>
            <a:ext cx="2816352" cy="6400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968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4 jobs / GFS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65760" y="3090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local + LTO GFS + Azure Immutable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Veeam + clés LTO sauvegardées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172968" y="2432304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432304"/>
            <a:ext cx="2816352" cy="6400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59689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7328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Suisse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310128" y="3090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: CHF 37'350 · Récurrent : CHF 7'594/an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1ère année : CHF 44'944 (HT)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117336" y="2432304"/>
            <a:ext cx="2816352" cy="146304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17336" y="2432304"/>
            <a:ext cx="2816352" cy="64008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59689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11696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10–15 jours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254496" y="3090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· J1 dès commande confirmée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+ DR test inclus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228600" y="4114800"/>
            <a:ext cx="8686800" cy="914400"/>
          </a:xfrm>
          <a:prstGeom prst="rect">
            <a:avLst/>
          </a:prstGeom>
          <a:solidFill>
            <a:srgbClr val="0A1F45"/>
          </a:solidFill>
          <a:ln w="12700">
            <a:solidFill>
              <a:srgbClr val="38A3D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657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365760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Valider l'offre et signer le bon de commande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365760" y="47183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Commander le matériel (livraison 3–5 jours)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754880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Créer le tenant MS365 + configurer DNS Zoneedit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4754880" y="47183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Démarrer Phase 1 dès J+1 après signature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MS365 — demo.ch</dc:title>
  <dc:subject>PptxGenJS Presentation</dc:subject>
  <dc:creator>PptxGenJS</dc:creator>
  <cp:lastModifiedBy>PptxGenJS</cp:lastModifiedBy>
  <cp:revision>1</cp:revision>
  <dcterms:created xsi:type="dcterms:W3CDTF">2026-02-20T18:07:08Z</dcterms:created>
  <dcterms:modified xsi:type="dcterms:W3CDTF">2026-02-20T18:07:08Z</dcterms:modified>
</cp:coreProperties>
</file>